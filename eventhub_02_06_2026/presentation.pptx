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6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5B644D-1473-4D7D-94E7-1E98667069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Calibri"/>
              </a:rPr>
              <a:t>WORKSHOP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Construindo Aplicações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Cloud Native e Serverless na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C066"/>
                </a:solidFill>
                <a:latin typeface="Calibri"/>
              </a:rPr>
              <a:t>EventHub Serverless — Plataforma de Gestão de Eventos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937760"/>
            <a:ext cx="4206240" cy="1280160"/>
          </a:xfrm>
          <a:prstGeom prst="roundRect">
            <a:avLst>
              <a:gd name="adj" fmla="val 15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50749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0B7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51663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LUCAS MARTINS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54864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C066"/>
                </a:solidFill>
                <a:latin typeface="Calibri"/>
              </a:rPr>
              <a:t>AWS Cloud Architect · Ascendra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7790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CCCCC"/>
                </a:solidFill>
                <a:latin typeface="Calibri"/>
              </a:rPr>
              <a:t>Especialista em Serverless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7492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STACK DO WORKSHOP</a:t>
            </a:r>
          </a:p>
        </p:txBody>
      </p:sp>
      <p:pic>
        <p:nvPicPr>
          <p:cNvPr id="14" name="Picture 13" descr="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532120"/>
            <a:ext cx="502920" cy="502920"/>
          </a:xfrm>
          <a:prstGeom prst="rect">
            <a:avLst/>
          </a:prstGeom>
        </p:spPr>
      </p:pic>
      <p:pic>
        <p:nvPicPr>
          <p:cNvPr id="15" name="Picture 14" descr="api-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5532120"/>
            <a:ext cx="502920" cy="502920"/>
          </a:xfrm>
          <a:prstGeom prst="rect">
            <a:avLst/>
          </a:prstGeom>
        </p:spPr>
      </p:pic>
      <p:pic>
        <p:nvPicPr>
          <p:cNvPr id="16" name="Picture 15" descr="cloudfor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5532120"/>
            <a:ext cx="502920" cy="502920"/>
          </a:xfrm>
          <a:prstGeom prst="rect">
            <a:avLst/>
          </a:prstGeom>
        </p:spPr>
      </p:pic>
      <p:pic>
        <p:nvPicPr>
          <p:cNvPr id="17" name="Picture 16" descr="dynamo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5532120"/>
            <a:ext cx="502920" cy="502920"/>
          </a:xfrm>
          <a:prstGeom prst="rect">
            <a:avLst/>
          </a:prstGeom>
        </p:spPr>
      </p:pic>
      <p:pic>
        <p:nvPicPr>
          <p:cNvPr id="18" name="Picture 17" descr="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5532120"/>
            <a:ext cx="502920" cy="502920"/>
          </a:xfrm>
          <a:prstGeom prst="rect">
            <a:avLst/>
          </a:prstGeom>
        </p:spPr>
      </p:pic>
      <p:pic>
        <p:nvPicPr>
          <p:cNvPr id="19" name="Picture 18" descr="auro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5532120"/>
            <a:ext cx="502920" cy="502920"/>
          </a:xfrm>
          <a:prstGeom prst="rect">
            <a:avLst/>
          </a:prstGeom>
        </p:spPr>
      </p:pic>
      <p:pic>
        <p:nvPicPr>
          <p:cNvPr id="20" name="Picture 19" descr="e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352" y="5532120"/>
            <a:ext cx="502920" cy="502920"/>
          </a:xfrm>
          <a:prstGeom prst="rect">
            <a:avLst/>
          </a:prstGeom>
        </p:spPr>
      </p:pic>
      <p:pic>
        <p:nvPicPr>
          <p:cNvPr id="21" name="Picture 20" descr="cloudwat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1864" y="553212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9900"/>
                </a:solidFill>
                <a:latin typeface="Calibri"/>
              </a:rPr>
              <a:t>02 de junho · 2026 · 19h00 às 20h30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D00CB354-31A1-9ED0-E87B-87EA799927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483260"/>
            <a:ext cx="2294684" cy="362560"/>
          </a:xfrm>
          <a:prstGeom prst="rect">
            <a:avLst/>
          </a:prstGeom>
        </p:spPr>
      </p:pic>
      <p:pic>
        <p:nvPicPr>
          <p:cNvPr id="29" name="Imagem 28" descr="AWS and Kaizen - Kaizen">
            <a:extLst>
              <a:ext uri="{FF2B5EF4-FFF2-40B4-BE49-F238E27FC236}">
                <a16:creationId xmlns:a16="http://schemas.microsoft.com/office/drawing/2014/main" id="{FC7BA215-75E1-6A90-6375-BFCAA743E8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8442" y="285750"/>
            <a:ext cx="1057275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Como a nuvem mudou o jogo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349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349240" cy="50292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5349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ANTES — Servidores físicos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62828"/>
                </a:solidFill>
                <a:latin typeface="Calibri"/>
              </a:rPr>
              <a:t>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46888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Comprar servidores (semanas de espera)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62828"/>
                </a:solidFill>
                <a:latin typeface="Calibri"/>
              </a:rPr>
              <a:t>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97180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Configurar rede manualmente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62828"/>
                </a:solidFill>
                <a:latin typeface="Calibri"/>
              </a:rPr>
              <a:t>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47472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Adivinhar capacidade futura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62828"/>
                </a:solidFill>
                <a:latin typeface="Calibri"/>
              </a:rPr>
              <a:t>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97764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Escalar = comprar mais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62828"/>
                </a:solidFill>
                <a:latin typeface="Calibri"/>
              </a:rPr>
              <a:t>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48056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Pagar mesmo sem usar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62828"/>
                </a:solidFill>
                <a:latin typeface="Calibri"/>
              </a:rPr>
              <a:t>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98348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Time de infra dedicado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691640"/>
            <a:ext cx="5349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1691640"/>
            <a:ext cx="5349240" cy="502920"/>
          </a:xfrm>
          <a:prstGeom prst="rect">
            <a:avLst/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1691640"/>
            <a:ext cx="5349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DEPOIS — Cloud 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46888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Recursos em segundos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97180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Infraestrutura como código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747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47472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Escala automática sob demanda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776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397764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Paga só pelo que usa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48056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Alta disponibilidade built-in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4983480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E"/>
                </a:solidFill>
                <a:latin typeface="Calibri"/>
              </a:rPr>
              <a:t>Foco no produto, não no servidor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897880"/>
            <a:ext cx="10972800" cy="50292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8978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A pergunta não é mais "quanto vou precisar?" e sim </a:t>
            </a:r>
            <a:r>
              <a:rPr sz="1400" b="1" i="0">
                <a:solidFill>
                  <a:srgbClr val="232F3E"/>
                </a:solidFill>
                <a:latin typeface="Calibri"/>
              </a:rPr>
              <a:t>"como faço para escalar automaticamente?"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40" name="Freeform 2">
            <a:extLst>
              <a:ext uri="{FF2B5EF4-FFF2-40B4-BE49-F238E27FC236}">
                <a16:creationId xmlns:a16="http://schemas.microsoft.com/office/drawing/2014/main" id="{63D92E21-7489-2CD9-85F2-8EE13D353718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41" name="Imagem 40" descr="AWS Signin">
            <a:extLst>
              <a:ext uri="{FF2B5EF4-FFF2-40B4-BE49-F238E27FC236}">
                <a16:creationId xmlns:a16="http://schemas.microsoft.com/office/drawing/2014/main" id="{C4ECBD92-4A10-68F6-E8AA-B7BC5AE05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FUNDAMENTOS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Cloud Native + AWS Well-Architected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91440" cy="1920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562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Excelência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Calibri"/>
              </a:rPr>
              <a:t>Cloud 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Automação (IaC, CI/CD)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No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AWS SAM + CloudFormation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69164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53712" y="1691640"/>
            <a:ext cx="91440" cy="1920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8032" y="18562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Segurança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3134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Calibri"/>
              </a:rPr>
              <a:t>Cloud 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560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Menor superfície de ataque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No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VPC + Private Subnets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4" y="169164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30184" y="1691640"/>
            <a:ext cx="91440" cy="1920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04504" y="18562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Confiabilidade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23134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Calibri"/>
              </a:rPr>
              <a:t>Cloud 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560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Resiliência automática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No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Lambda auto-retry + Multi-AZ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3840480"/>
            <a:ext cx="91440" cy="1920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0050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Eficiência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4622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Calibri"/>
              </a:rPr>
              <a:t>Cloud 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Serviços gerenciados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120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No Workshop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349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DynamoDB + Aurora Serverless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3712" y="384048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53712" y="3840480"/>
            <a:ext cx="91440" cy="1920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28032" y="40050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Otimização de Custos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44622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Calibri"/>
              </a:rPr>
              <a:t>Cloud Native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Pay-per-use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5120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No Workshop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5349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Lambda + S3 + On-demand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0184" y="3840480"/>
            <a:ext cx="36118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30184" y="3840480"/>
            <a:ext cx="91440" cy="1920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04504" y="40050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Sustentabilidade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04504" y="44622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Calibri"/>
              </a:rPr>
              <a:t>Cloud Native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4504" y="4709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Recursos sob demanda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5120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No Workshop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04504" y="5349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F2E"/>
                </a:solidFill>
                <a:latin typeface="Calibri"/>
              </a:rPr>
              <a:t>Zero idle = menor footprint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5989320"/>
            <a:ext cx="10972800" cy="457200"/>
          </a:xfrm>
          <a:prstGeom prst="roundRect">
            <a:avLst>
              <a:gd name="adj" fmla="val 3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97280" y="59893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Cloud Native = projetar aplicações que aproveitam ao máximo a nuvem desde o dia 1.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52" name="Freeform 2">
            <a:extLst>
              <a:ext uri="{FF2B5EF4-FFF2-40B4-BE49-F238E27FC236}">
                <a16:creationId xmlns:a16="http://schemas.microsoft.com/office/drawing/2014/main" id="{190C7CA0-C6F1-187C-9BB8-D3ABFBE7E966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53" name="Imagem 52" descr="AWS Signin">
            <a:extLst>
              <a:ext uri="{FF2B5EF4-FFF2-40B4-BE49-F238E27FC236}">
                <a16:creationId xmlns:a16="http://schemas.microsoft.com/office/drawing/2014/main" id="{8A7034A6-D90B-8691-A974-5B4AB23B3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DESMITIFICANDO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Serverless: Mitos vs Realidades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REALIDADE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Não existem servidores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9456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6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Existem, mas a AWS gerencia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16352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16352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Não tem limites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16352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816352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15min timeout · 10GB memória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38144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438144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É sempre mais barato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438144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438144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Depende do padrão de uso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59936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059936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Substitui tudo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59936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4059936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Ideal para event-driven e stateless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681728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68172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Não precisa de DevOps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681728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468172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Precisa de IaC, CI/CD, observabilidade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30352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3035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Cold start não importa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30352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53035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32"/>
                </a:solidFill>
                <a:latin typeface="Calibri"/>
              </a:rPr>
              <a:t>Importa para APIs síncronas críticas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6035040"/>
            <a:ext cx="10972800" cy="41148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603504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Serverless = </a:t>
            </a:r>
            <a:r>
              <a:rPr sz="1300" b="1" i="0">
                <a:solidFill>
                  <a:srgbClr val="232F3E"/>
                </a:solidFill>
                <a:latin typeface="Calibri"/>
              </a:rPr>
              <a:t>você foca no código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, a AWS cuida da infraestrutura.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38" name="Freeform 2">
            <a:extLst>
              <a:ext uri="{FF2B5EF4-FFF2-40B4-BE49-F238E27FC236}">
                <a16:creationId xmlns:a16="http://schemas.microsoft.com/office/drawing/2014/main" id="{7837640E-8C00-543E-0EA5-687177235E5E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39" name="Imagem 38" descr="AWS Signin">
            <a:extLst>
              <a:ext uri="{FF2B5EF4-FFF2-40B4-BE49-F238E27FC236}">
                <a16:creationId xmlns:a16="http://schemas.microsoft.com/office/drawing/2014/main" id="{44DC6E2A-5427-56C0-DD8B-B5A323AD0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DECISÃO ARQUITETURAL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Serverless: quando faz sentido?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4068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4068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✔  IDEAL 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APIs REST / GraphQL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92608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Processamento de eventos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33756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Webhooks e integrações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74904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Jobs agendados (cron)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16052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Upload e processamento de arquivos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57200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Backends de apps 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98348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MVPs e startups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91640"/>
            <a:ext cx="544068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1691640"/>
            <a:ext cx="544068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1691640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✘  EVITE QUANDO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51460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Execução &gt; 15 minutos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92608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Workloads GPU-intensivos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37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33756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Aplicações com muito estado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749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374904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Tráfego constante e previsível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16052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Latência ultra-baixa (&lt;10ms)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572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57200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Processos long-running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2828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98348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F2E"/>
                </a:solidFill>
                <a:latin typeface="Calibri"/>
              </a:rPr>
              <a:t>WebSockets persistentes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943600"/>
            <a:ext cx="10972800" cy="502920"/>
          </a:xfrm>
          <a:prstGeom prst="roundRect">
            <a:avLst>
              <a:gd name="adj" fmla="val 3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" y="5943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CCCCC"/>
                </a:solidFill>
                <a:latin typeface="Calibri"/>
              </a:rPr>
              <a:t>Para o EventHub: </a:t>
            </a:r>
            <a:r>
              <a:rPr sz="1300" b="1" i="0">
                <a:solidFill>
                  <a:srgbClr val="FF9900"/>
                </a:solidFill>
                <a:latin typeface="Calibri"/>
              </a:rPr>
              <a:t>APIs + Eventos + Upload + Jobs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= caso perfeito para Serverless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44" name="Freeform 2">
            <a:extLst>
              <a:ext uri="{FF2B5EF4-FFF2-40B4-BE49-F238E27FC236}">
                <a16:creationId xmlns:a16="http://schemas.microsoft.com/office/drawing/2014/main" id="{2F192D97-DE87-AA7D-537B-D70440144BE3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45" name="Imagem 44" descr="AWS Signin">
            <a:extLst>
              <a:ext uri="{FF2B5EF4-FFF2-40B4-BE49-F238E27FC236}">
                <a16:creationId xmlns:a16="http://schemas.microsoft.com/office/drawing/2014/main" id="{74DA7EEA-2AE6-F6B8-3A8D-99E53114A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EVENTHUB SERVERLESS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Arquitetura sobre 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37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0160" y="21762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011680"/>
            <a:ext cx="12801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i-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0312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98648" y="2130552"/>
            <a:ext cx="713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API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151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Porta de entrada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40" y="2011680"/>
            <a:ext cx="12801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10312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44568" y="2130552"/>
            <a:ext cx="713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Lambda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6151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691640"/>
            <a:ext cx="4023360" cy="2834640"/>
          </a:xfrm>
          <a:prstGeom prst="roundRect">
            <a:avLst>
              <a:gd name="adj" fmla="val 5000"/>
            </a:avLst>
          </a:prstGeom>
          <a:solidFill>
            <a:srgbClr val="2A3A4C"/>
          </a:solidFill>
          <a:ln>
            <a:solidFill>
              <a:srgbClr val="556B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7830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C066"/>
                </a:solidFill>
                <a:latin typeface="Calibri"/>
              </a:rPr>
              <a:t>VPC  ·  Camada de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19456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64808" y="231343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DynamoDB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7980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Catálogo de eventos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219456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uro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28600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93608" y="231343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Aurora Serverless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7980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Inscrições / 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3291840"/>
            <a:ext cx="1645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e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38328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64808" y="341071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EC2 NAT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895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Saída p/ 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80" y="3291840"/>
            <a:ext cx="1645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863840" y="3456432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34564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232F3E"/>
                </a:solidFill>
                <a:latin typeface="Calibri"/>
              </a:rPr>
              <a:t>KMS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38144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Secrets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7947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Credenciais Aurora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75488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937760"/>
            <a:ext cx="502920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45920" y="49194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2F3E"/>
                </a:solidFill>
                <a:latin typeface="Calibri"/>
              </a:rPr>
              <a:t>Process Upload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212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9900"/>
                </a:solidFill>
                <a:latin typeface="Calibri"/>
              </a:rPr>
              <a:t>Event-driven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440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Disparo via S3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475488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4937760"/>
            <a:ext cx="502920" cy="5029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977640" y="49194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2F3E"/>
                </a:solidFill>
                <a:latin typeface="Calibri"/>
              </a:rPr>
              <a:t>S3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5212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9900"/>
                </a:solidFill>
                <a:latin typeface="Calibri"/>
              </a:rPr>
              <a:t>Documentos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7640" y="5440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Upload via Presigned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32120" y="475488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cloudwat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" y="493776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309360" y="49194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2F3E"/>
                </a:solidFill>
                <a:latin typeface="Calibri"/>
              </a:rPr>
              <a:t>CloudWatch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212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9900"/>
                </a:solidFill>
                <a:latin typeface="Calibri"/>
              </a:rPr>
              <a:t>Logs · Métricas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440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Alarmes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475488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cloudform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4937760"/>
            <a:ext cx="502920" cy="5029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41080" y="491947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AWS SAM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5212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32F3E"/>
                </a:solidFill>
                <a:latin typeface="Calibri"/>
              </a:rPr>
              <a:t>CloudFormation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5440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32F3E"/>
                </a:solidFill>
                <a:latin typeface="Calibri"/>
              </a:rPr>
              <a:t>Tudo via IaC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965960" y="2468880"/>
            <a:ext cx="365760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11880" y="2468880"/>
            <a:ext cx="365760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257800" y="2468880"/>
            <a:ext cx="365760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686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066"/>
                </a:solidFill>
                <a:latin typeface="Calibri"/>
              </a:rPr>
              <a:t>Tudo gerenciado via AWS SAM / CloudFormation (Infraestrutura como Código)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CCCCC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CCCCCC"/>
                </a:solidFill>
                <a:latin typeface="Calibri"/>
              </a:rPr>
              <a:t>ASCENDRA</a:t>
            </a:r>
          </a:p>
        </p:txBody>
      </p:sp>
      <p:pic>
        <p:nvPicPr>
          <p:cNvPr id="62" name="Imagem 61">
            <a:extLst>
              <a:ext uri="{FF2B5EF4-FFF2-40B4-BE49-F238E27FC236}">
                <a16:creationId xmlns:a16="http://schemas.microsoft.com/office/drawing/2014/main" id="{DDC5F2E7-1FE8-5FB9-DB11-D9B9F998DA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483260"/>
            <a:ext cx="2294684" cy="362560"/>
          </a:xfrm>
          <a:prstGeom prst="rect">
            <a:avLst/>
          </a:prstGeom>
        </p:spPr>
      </p:pic>
      <p:pic>
        <p:nvPicPr>
          <p:cNvPr id="63" name="Imagem 62" descr="AWS and Kaizen - Kaizen">
            <a:extLst>
              <a:ext uri="{FF2B5EF4-FFF2-40B4-BE49-F238E27FC236}">
                <a16:creationId xmlns:a16="http://schemas.microsoft.com/office/drawing/2014/main" id="{B2516116-47D0-FFC6-A819-9834B75DC2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8442" y="285750"/>
            <a:ext cx="1057275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STACK DETALHADA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Cada serviço resolve um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i-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78024" y="19476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0B707D"/>
                </a:solidFill>
                <a:latin typeface="Calibri"/>
              </a:rPr>
              <a:t>SERVERLESS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32888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6207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Expor APIs HTTP com segurança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00400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Porta de entrada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1691640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87452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3520" y="19476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0B707D"/>
                </a:solidFill>
                <a:latin typeface="Calibri"/>
              </a:rPr>
              <a:t>SERVERLESS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532888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286207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Executar código sob demanda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5616" y="3200400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5616" y="320040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Lógica de negócio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1691640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874520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29016" y="19476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0B707D"/>
                </a:solidFill>
                <a:latin typeface="Calibri"/>
              </a:rPr>
              <a:t>SERVERLESS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532888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DynamoDB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286207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Leitura rápida key-value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3200400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20040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Catálogo de eventos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3728" y="1691640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uro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08" y="187452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954512" y="19476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0B707D"/>
                </a:solidFill>
                <a:latin typeface="Calibri"/>
              </a:rPr>
              <a:t>SERVERLESS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2532888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Aurora Serverless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2862072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SQL relacional escalável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3200400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36608" y="320040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Inscrições e participantes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867912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050792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78024" y="41239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0B707D"/>
                </a:solidFill>
                <a:latin typeface="Calibri"/>
              </a:rPr>
              <a:t>SERVERLESS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0916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0383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Armazenar objetos / arquivos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5376672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5376672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Documentos do upload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02736" y="3867912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e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5616" y="4050792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303520" y="41239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GERENCIADO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5616" y="470916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EC2 (NAT)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5616" y="50383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Acesso internet p/ subnet privada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85616" y="5376672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85616" y="5376672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Lambda → Internet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28232" y="3867912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cloudwat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4050792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129016" y="41239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0B707D"/>
                </a:solidFill>
                <a:latin typeface="Calibri"/>
              </a:rPr>
              <a:t>SERVERLESS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70916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CloudWatch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1112" y="50383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Logs, métricas e alarmes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11112" y="5376672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11112" y="5376672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Observabilidade total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3867912"/>
            <a:ext cx="270662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cloudform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6608" y="405079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954512" y="41239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GERENCIADO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36608" y="4709160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32F3E"/>
                </a:solidFill>
                <a:latin typeface="Calibri"/>
              </a:rPr>
              <a:t>SAM / CloudFormation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36608" y="50383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Infraestrutura como código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36608" y="5376672"/>
            <a:ext cx="2340864" cy="365760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36608" y="5376672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Deploy automatizado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64" name="Freeform 2">
            <a:extLst>
              <a:ext uri="{FF2B5EF4-FFF2-40B4-BE49-F238E27FC236}">
                <a16:creationId xmlns:a16="http://schemas.microsoft.com/office/drawing/2014/main" id="{EEDB6EBC-17F4-B812-BF16-C382F95C28CB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65" name="Imagem 64" descr="AWS Signin">
            <a:extLst>
              <a:ext uri="{FF2B5EF4-FFF2-40B4-BE49-F238E27FC236}">
                <a16:creationId xmlns:a16="http://schemas.microsoft.com/office/drawing/2014/main" id="{C0093E4D-DDDD-3727-2BCF-BF1D56FDBF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REDE E SEGURANÇA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Por que VPC? Isolamento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32F3E"/>
                </a:solidFill>
                <a:latin typeface="Calibri"/>
              </a:rPr>
              <a:t>Por que precisamos de VPC no EventHub?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157984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Aurora Serverless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PRECISA estar em subnet privada — sem acesso direto da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718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Lambda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precisa de VPC para acessar Aurora (mesma rede)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490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712464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NAT Instance </a:t>
            </a:r>
            <a:r>
              <a:rPr sz="1300" b="0" i="0">
                <a:solidFill>
                  <a:srgbClr val="1A1F2E"/>
                </a:solidFill>
                <a:latin typeface="Calibri"/>
              </a:rPr>
              <a:t>permite que Lambda em subnet privada acesse a internet quando necessário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720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7365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9900"/>
                </a:solidFill>
                <a:latin typeface="Calibri"/>
              </a:rPr>
              <a:t>COMPARATIVO DE CUSTO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NAT Gateway: </a:t>
            </a:r>
            <a:r>
              <a:rPr sz="1300" b="0" i="0">
                <a:solidFill>
                  <a:srgbClr val="CCCCCC"/>
                </a:solidFill>
                <a:latin typeface="Calibri"/>
              </a:rPr>
              <a:t>~$32/mês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NAT Instance (t3.micro): </a:t>
            </a:r>
            <a:r>
              <a:rPr sz="1300" b="0" i="0">
                <a:solidFill>
                  <a:srgbClr val="FF9900"/>
                </a:solidFill>
                <a:latin typeface="Calibri"/>
              </a:rPr>
              <a:t>~$8/mês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23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→  Escolhemos NAT Instance para otimizar custos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691640"/>
            <a:ext cx="53035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1691640"/>
            <a:ext cx="1463040" cy="3657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6916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VPC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33172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423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PUBLIC SUBNET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2788920"/>
            <a:ext cx="146304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e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880360"/>
            <a:ext cx="4114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32520" y="288036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NAT EC2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172968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Internet 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977640"/>
            <a:ext cx="4754880" cy="2011680"/>
          </a:xfrm>
          <a:prstGeom prst="roundRect">
            <a:avLst>
              <a:gd name="adj" fmla="val 5000"/>
            </a:avLst>
          </a:prstGeom>
          <a:solidFill>
            <a:srgbClr val="FF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4069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PRIVATE SUBNET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480560"/>
            <a:ext cx="201168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4663440"/>
            <a:ext cx="594360" cy="594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0" y="46634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32F3E"/>
                </a:solidFill>
                <a:latin typeface="Calibri"/>
              </a:rPr>
              <a:t>Lambda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983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na VPC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5349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9900"/>
                </a:solidFill>
                <a:latin typeface="Calibri"/>
              </a:rPr>
              <a:t>↘  acessa Aurora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480560"/>
            <a:ext cx="2011680" cy="1280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4663440"/>
            <a:ext cx="594360" cy="5943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58400" y="46634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32F3E"/>
                </a:solidFill>
                <a:latin typeface="Calibri"/>
              </a:rPr>
              <a:t>Aurora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9834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Serverless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5349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Calibri"/>
              </a:rPr>
              <a:t>✔  Isolada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17373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Calibri"/>
              </a:rPr>
              <a:t>Internet 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42" name="Freeform 2">
            <a:extLst>
              <a:ext uri="{FF2B5EF4-FFF2-40B4-BE49-F238E27FC236}">
                <a16:creationId xmlns:a16="http://schemas.microsoft.com/office/drawing/2014/main" id="{A172C451-027C-98AF-861F-CA3D58DC0814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43" name="Imagem 42" descr="AWS Signin">
            <a:extLst>
              <a:ext uri="{FF2B5EF4-FFF2-40B4-BE49-F238E27FC236}">
                <a16:creationId xmlns:a16="http://schemas.microsoft.com/office/drawing/2014/main" id="{5ABF4F22-5B59-3ECF-3C8B-F701C21E0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Calibri"/>
              </a:rPr>
              <a:t>ROTEIRO DO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109728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F2E"/>
                </a:solidFill>
                <a:latin typeface="Calibri"/>
              </a:rPr>
              <a:t>Construindo o EventHub com Kiro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Workshop: Cloud Native &amp; Serverless na AWS · EventHub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ASCENDRA</a:t>
            </a:r>
          </a:p>
        </p:txBody>
      </p:sp>
      <p:sp>
        <p:nvSpPr>
          <p:cNvPr id="52" name="Freeform 2">
            <a:extLst>
              <a:ext uri="{FF2B5EF4-FFF2-40B4-BE49-F238E27FC236}">
                <a16:creationId xmlns:a16="http://schemas.microsoft.com/office/drawing/2014/main" id="{AFD60CC5-E2F5-2CE0-F1BC-6AE5981B8BBA}"/>
              </a:ext>
            </a:extLst>
          </p:cNvPr>
          <p:cNvSpPr/>
          <p:nvPr/>
        </p:nvSpPr>
        <p:spPr>
          <a:xfrm>
            <a:off x="8781772" y="384048"/>
            <a:ext cx="1768118" cy="279051"/>
          </a:xfrm>
          <a:custGeom>
            <a:avLst/>
            <a:gdLst/>
            <a:ahLst/>
            <a:cxnLst/>
            <a:rect l="l" t="t" r="r" b="b"/>
            <a:pathLst>
              <a:path w="2271807" h="358544">
                <a:moveTo>
                  <a:pt x="0" y="0"/>
                </a:moveTo>
                <a:lnTo>
                  <a:pt x="2271807" y="0"/>
                </a:lnTo>
                <a:lnTo>
                  <a:pt x="2271807" y="358544"/>
                </a:lnTo>
                <a:lnTo>
                  <a:pt x="0" y="35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3200"/>
          </a:p>
        </p:txBody>
      </p:sp>
      <p:pic>
        <p:nvPicPr>
          <p:cNvPr id="53" name="Imagem 52" descr="AWS Signin">
            <a:extLst>
              <a:ext uri="{FF2B5EF4-FFF2-40B4-BE49-F238E27FC236}">
                <a16:creationId xmlns:a16="http://schemas.microsoft.com/office/drawing/2014/main" id="{C3E9EDB9-4B73-8021-9007-92220EC0B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325" y="356616"/>
            <a:ext cx="635000" cy="38100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57200" y="160020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94360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1719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Apresentação Kiro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19842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Spec-Driven Development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94760" y="180136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8013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Specs e Powers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60020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309360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09360" y="17190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Inicialização SAM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5160" y="19842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Template SAM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09760" y="180136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509760" y="18013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template.yaml · resources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246888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94360" y="2587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25877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016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Fundamentos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0160" y="28529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Hello World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94760" y="267004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94760" y="267004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Lambda handler · Powertools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72200" y="246888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309360" y="2587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09360" y="25877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9516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Catálogo de eventos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5160" y="28529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Integração com DynamoDB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09760" y="267004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509760" y="267004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DynamoDB · NoSQL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333756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94360" y="34564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94360" y="3456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160" y="34290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Frontend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0160" y="372160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UI simples para o EventHub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794760" y="353872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794760" y="353872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CloudFront e Origin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72200" y="333756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309360" y="34564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309360" y="3456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5160" y="34290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Aurora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372160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Persistência em banco relacional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509760" y="353872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509760" y="353872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VPC + Aurora Serverless V2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" y="420624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94360" y="4325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94360" y="432511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80160" y="4297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S3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80160" y="45902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Upload de documentos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94760" y="440740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94760" y="440740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S3 events + event-driven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172200" y="420624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6309360" y="4325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309360" y="432511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95160" y="4297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Observabilidade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45902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Disparo de notificações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09760" y="440740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509760" y="440740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Alarms · SNS + e-mail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507492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594360" y="51937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94360" y="51937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80160" y="5166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Fluxo do admin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80160" y="54589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Expandindo regras de negócio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794760" y="527608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794760" y="527608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Lambda handlers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172200" y="5074920"/>
            <a:ext cx="553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6309360" y="51937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309360" y="51937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995160" y="51663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Pontos finais &amp; QA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95160" y="54589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F2E"/>
                </a:solidFill>
                <a:latin typeface="Calibri"/>
              </a:rPr>
              <a:t>Logs + Métricas + Alarmes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09760" y="5276088"/>
            <a:ext cx="2057400" cy="384048"/>
          </a:xfrm>
          <a:prstGeom prst="roundRect">
            <a:avLst>
              <a:gd name="adj" fmla="val 4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09760" y="527608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F3E"/>
                </a:solidFill>
                <a:latin typeface="Calibri"/>
              </a:rPr>
              <a:t>CloudWatch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57200" y="5989320"/>
            <a:ext cx="11247120" cy="384048"/>
          </a:xfrm>
          <a:prstGeom prst="roundRect">
            <a:avLst>
              <a:gd name="adj" fmla="val 4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57200" y="5989320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Cada fase é incremental — ao final, teremos uma aplicação completa rodando na AWS.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9900"/>
                </a:solidFill>
                <a:latin typeface="Calibri"/>
              </a:rPr>
              <a:t>AGORA É COM A 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Calibri"/>
              </a:rPr>
              <a:t>Vamos construir?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840480"/>
            <a:ext cx="18288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EventHub Serverless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C066"/>
                </a:solidFill>
                <a:latin typeface="Calibri"/>
              </a:rPr>
              <a:t>Do zero ao deploy com AWS SAM + Kiro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5943600" cy="777240"/>
          </a:xfrm>
          <a:prstGeom prst="roundRect">
            <a:avLst>
              <a:gd name="adj" fmla="val 15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32F3E"/>
                </a:solidFill>
                <a:latin typeface="Calibri"/>
              </a:rPr>
              <a:t>▶  Fase 1: Estrutura inicial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4BDF44C-EB96-6FF5-321F-215E6EAF8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483260"/>
            <a:ext cx="2294684" cy="362560"/>
          </a:xfrm>
          <a:prstGeom prst="rect">
            <a:avLst/>
          </a:prstGeom>
        </p:spPr>
      </p:pic>
      <p:pic>
        <p:nvPicPr>
          <p:cNvPr id="12" name="Imagem 11" descr="AWS and Kaizen - Kaizen">
            <a:extLst>
              <a:ext uri="{FF2B5EF4-FFF2-40B4-BE49-F238E27FC236}">
                <a16:creationId xmlns:a16="http://schemas.microsoft.com/office/drawing/2014/main" id="{9C2ABBCD-992E-4D66-6262-00F952788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442" y="285750"/>
            <a:ext cx="1057275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9900"/>
                </a:solidFill>
                <a:latin typeface="Calibri"/>
              </a:rPr>
              <a:t>PRÓXIMO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6309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Tem um sistema legado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pra modernizar?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9900"/>
                </a:solidFill>
                <a:latin typeface="Calibri"/>
              </a:rPr>
              <a:t>Fale com a Ascendra.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Fazemos o assessment do seu legado e desenhamos a jornada de modernização para uma arquitetura Cloud Native sobre AWS — com Kiro, nosso acelerador de desenvolvimento serverless.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011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Diagnóstico técnico do sistema legado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3126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Roadmap de migração para Cloud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7241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Aceleração com Kiro · time AWS especialista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00200"/>
            <a:ext cx="402336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00200"/>
            <a:ext cx="4023360" cy="502920"/>
          </a:xfrm>
          <a:prstGeom prst="rect">
            <a:avLst/>
          </a:prstGeom>
          <a:solidFill>
            <a:srgbClr val="0B7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16002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APONTE SUA CÂMERA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6235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ascendra.com.br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2F3E"/>
                </a:solidFill>
                <a:latin typeface="Calibri"/>
              </a:rPr>
              <a:t>ASCENDRA  ·  Modernização Cloud Native + Kiro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F161E1A-9683-68D1-2739-F069D467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483260"/>
            <a:ext cx="2294684" cy="362560"/>
          </a:xfrm>
          <a:prstGeom prst="rect">
            <a:avLst/>
          </a:prstGeom>
        </p:spPr>
      </p:pic>
      <p:pic>
        <p:nvPicPr>
          <p:cNvPr id="22" name="Imagem 21" descr="AWS and Kaizen - Kaizen">
            <a:extLst>
              <a:ext uri="{FF2B5EF4-FFF2-40B4-BE49-F238E27FC236}">
                <a16:creationId xmlns:a16="http://schemas.microsoft.com/office/drawing/2014/main" id="{FE33F47B-8C32-9117-DFD7-93A0F329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442" y="285750"/>
            <a:ext cx="1057275" cy="84582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F52E8061-EB97-7B88-83A1-540C52CFD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743" y="2201908"/>
            <a:ext cx="2960031" cy="38257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042393b-787c-453e-9957-8ff3e1563c6e}" enabled="1" method="Standard" siteId="{57082779-a712-4c74-839d-20adacb7c36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979</Words>
  <Application>Microsoft Office PowerPoint</Application>
  <PresentationFormat>Widescreen</PresentationFormat>
  <Paragraphs>284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Cecilia Palma</cp:lastModifiedBy>
  <cp:revision>3</cp:revision>
  <dcterms:created xsi:type="dcterms:W3CDTF">2013-01-27T09:14:16Z</dcterms:created>
  <dcterms:modified xsi:type="dcterms:W3CDTF">2026-06-02T13:05:26Z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Informação Interna</vt:lpwstr>
  </property>
</Properties>
</file>